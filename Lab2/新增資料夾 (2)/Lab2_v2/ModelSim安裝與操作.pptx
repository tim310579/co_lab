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8" r:id="rId5"/>
    <p:sldId id="269" r:id="rId6"/>
    <p:sldId id="257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1" r:id="rId15"/>
    <p:sldId id="267" r:id="rId1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69"/>
    <p:restoredTop sz="92818"/>
  </p:normalViewPr>
  <p:slideViewPr>
    <p:cSldViewPr>
      <p:cViewPr>
        <p:scale>
          <a:sx n="95" d="100"/>
          <a:sy n="95" d="100"/>
        </p:scale>
        <p:origin x="1736" y="6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EE3970-2A9D-4A8C-B10C-612DB7609ED8}" type="datetimeFigureOut">
              <a:rPr lang="zh-TW" altLang="en-US" smtClean="0"/>
              <a:t>2019/4/10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0BB4E1-EC8B-4372-9C0F-D72D08E272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1355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BB4E1-EC8B-4372-9C0F-D72D08E2722A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3126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BB4E1-EC8B-4372-9C0F-D72D08E2722A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4834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2019/4/10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2019/4/10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2019/4/10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2019/4/10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2019/4/10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2019/4/10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2019/4/10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2019/4/10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2019/4/10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2019/4/10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2019/4/10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2019/4/10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mentor.com/products/fpga/model" TargetMode="External"/><Relationship Id="rId3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7504" y="1124744"/>
            <a:ext cx="8784976" cy="1470025"/>
          </a:xfrm>
        </p:spPr>
        <p:txBody>
          <a:bodyPr>
            <a:noAutofit/>
          </a:bodyPr>
          <a:lstStyle/>
          <a:p>
            <a:r>
              <a:rPr lang="en-US" altLang="zh-TW" sz="4800" dirty="0"/>
              <a:t/>
            </a:r>
            <a:br>
              <a:rPr lang="en-US" altLang="zh-TW" sz="4800" dirty="0"/>
            </a:br>
            <a:r>
              <a:rPr lang="en-US" altLang="zh-TW" sz="4800" dirty="0" err="1"/>
              <a:t>ModelSim</a:t>
            </a:r>
            <a:r>
              <a:rPr lang="en-US" altLang="zh-TW" sz="4800" dirty="0"/>
              <a:t> Installation and Licensing Guide</a:t>
            </a:r>
            <a:endParaRPr lang="zh-TW" altLang="en-US" sz="48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59632" y="3717032"/>
            <a:ext cx="6400800" cy="1752600"/>
          </a:xfrm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82529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US" altLang="zh-TW" dirty="0" smtClean="0"/>
              <a:t>Go to </a:t>
            </a:r>
            <a:r>
              <a:rPr lang="en-US" altLang="zh-TW" dirty="0" err="1" smtClean="0"/>
              <a:t>M</a:t>
            </a:r>
            <a:r>
              <a:rPr lang="en-US" altLang="zh-TW" dirty="0" err="1" smtClean="0"/>
              <a:t>odelSim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24744"/>
            <a:ext cx="8435280" cy="4525963"/>
          </a:xfrm>
        </p:spPr>
        <p:txBody>
          <a:bodyPr/>
          <a:lstStyle/>
          <a:p>
            <a:r>
              <a:rPr lang="en-US" altLang="zh-TW" sz="2400" dirty="0" smtClean="0">
                <a:hlinkClick r:id="rId2"/>
              </a:rPr>
              <a:t>http</a:t>
            </a:r>
            <a:r>
              <a:rPr lang="en-US" altLang="zh-TW" sz="2400" dirty="0">
                <a:hlinkClick r:id="rId2"/>
              </a:rPr>
              <a:t>://</a:t>
            </a:r>
            <a:r>
              <a:rPr lang="en-US" altLang="zh-TW" sz="2400" dirty="0" smtClean="0">
                <a:hlinkClick r:id="rId2"/>
              </a:rPr>
              <a:t>www.mentor.com/products/fpga/model</a:t>
            </a:r>
            <a:endParaRPr lang="en-US" altLang="zh-TW" sz="2400" dirty="0" smtClean="0"/>
          </a:p>
          <a:p>
            <a:r>
              <a:rPr lang="en-US" altLang="zh-TW" sz="2400" dirty="0" smtClean="0"/>
              <a:t>Click </a:t>
            </a:r>
            <a:r>
              <a:rPr lang="en-US" altLang="zh-TW" sz="2400" dirty="0" err="1"/>
              <a:t>ModelSim</a:t>
            </a:r>
            <a:r>
              <a:rPr lang="en-US" altLang="zh-TW" sz="2400" dirty="0"/>
              <a:t> </a:t>
            </a:r>
            <a:r>
              <a:rPr lang="en-US" altLang="zh-TW" sz="2400" dirty="0"/>
              <a:t>Student edition</a:t>
            </a:r>
            <a:endParaRPr lang="en-US" altLang="zh-TW" sz="2400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8" t="9159"/>
          <a:stretch/>
        </p:blipFill>
        <p:spPr>
          <a:xfrm>
            <a:off x="367922" y="1989063"/>
            <a:ext cx="8741227" cy="4848349"/>
          </a:xfrm>
          <a:prstGeom prst="rect">
            <a:avLst/>
          </a:prstGeom>
        </p:spPr>
      </p:pic>
      <p:cxnSp>
        <p:nvCxnSpPr>
          <p:cNvPr id="6" name="直線單箭頭接點 5"/>
          <p:cNvCxnSpPr/>
          <p:nvPr/>
        </p:nvCxnSpPr>
        <p:spPr>
          <a:xfrm flipH="1">
            <a:off x="3534743" y="6258998"/>
            <a:ext cx="1309810" cy="156089"/>
          </a:xfrm>
          <a:prstGeom prst="straightConnector1">
            <a:avLst/>
          </a:prstGeom>
          <a:ln w="349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4788024" y="6059393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click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1835696" y="6319475"/>
            <a:ext cx="1656184" cy="3626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48304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Download</a:t>
            </a:r>
            <a:r>
              <a:rPr lang="zh-TW" altLang="en-US" dirty="0" smtClean="0"/>
              <a:t> </a:t>
            </a:r>
            <a:r>
              <a:rPr lang="en-US" altLang="zh-TW" dirty="0" smtClean="0"/>
              <a:t>&amp; Setup</a:t>
            </a:r>
            <a:r>
              <a:rPr lang="zh-TW" altLang="en-US" dirty="0" smtClean="0"/>
              <a:t> 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262292"/>
            <a:ext cx="7895294" cy="2817313"/>
          </a:xfrm>
        </p:spPr>
      </p:pic>
      <p:cxnSp>
        <p:nvCxnSpPr>
          <p:cNvPr id="14" name="直線單箭頭接點 5"/>
          <p:cNvCxnSpPr/>
          <p:nvPr/>
        </p:nvCxnSpPr>
        <p:spPr>
          <a:xfrm flipH="1">
            <a:off x="4071455" y="3183073"/>
            <a:ext cx="1309810" cy="156089"/>
          </a:xfrm>
          <a:prstGeom prst="straightConnector1">
            <a:avLst/>
          </a:prstGeom>
          <a:ln w="349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5410956" y="2903220"/>
            <a:ext cx="1433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Click here</a:t>
            </a:r>
          </a:p>
        </p:txBody>
      </p:sp>
    </p:spTree>
    <p:extLst>
      <p:ext uri="{BB962C8B-B14F-4D97-AF65-F5344CB8AC3E}">
        <p14:creationId xmlns:p14="http://schemas.microsoft.com/office/powerpoint/2010/main" val="2463022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Registration</a:t>
            </a:r>
            <a:endParaRPr kumimoji="1"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938" y="1916832"/>
            <a:ext cx="6554123" cy="4785809"/>
          </a:xfrm>
        </p:spPr>
      </p:pic>
      <p:sp>
        <p:nvSpPr>
          <p:cNvPr id="5" name="文字方塊 4"/>
          <p:cNvSpPr txBox="1"/>
          <p:nvPr/>
        </p:nvSpPr>
        <p:spPr>
          <a:xfrm>
            <a:off x="1294938" y="1239143"/>
            <a:ext cx="49332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kumimoji="1" lang="en-US" altLang="zh-TW" sz="3200" dirty="0" smtClean="0"/>
              <a:t>Fill</a:t>
            </a:r>
            <a:r>
              <a:rPr kumimoji="1" lang="en-US" altLang="zh-TW" sz="2800" dirty="0" smtClean="0"/>
              <a:t> in the registration form</a:t>
            </a:r>
            <a:endParaRPr kumimoji="1"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47070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Download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/>
              <a:t>You will receive an email with the file download location.</a:t>
            </a:r>
            <a:endParaRPr kumimoji="1" lang="zh-TW" altLang="en-US" sz="2800" dirty="0"/>
          </a:p>
        </p:txBody>
      </p:sp>
      <p:grpSp>
        <p:nvGrpSpPr>
          <p:cNvPr id="4" name="群組 3"/>
          <p:cNvGrpSpPr/>
          <p:nvPr/>
        </p:nvGrpSpPr>
        <p:grpSpPr>
          <a:xfrm>
            <a:off x="457200" y="2780928"/>
            <a:ext cx="8229600" cy="2481263"/>
            <a:chOff x="611560" y="4221088"/>
            <a:chExt cx="8229600" cy="2481263"/>
          </a:xfrm>
        </p:grpSpPr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560" y="4221088"/>
              <a:ext cx="8229600" cy="2481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文字方塊 5"/>
            <p:cNvSpPr txBox="1"/>
            <p:nvPr/>
          </p:nvSpPr>
          <p:spPr>
            <a:xfrm>
              <a:off x="2490995" y="5828851"/>
              <a:ext cx="2026568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solidFill>
                    <a:srgbClr val="00B050"/>
                  </a:solidFill>
                </a:rPr>
                <a:t>Use this to install</a:t>
              </a:r>
              <a:endParaRPr lang="zh-TW" altLang="en-US" b="1" dirty="0">
                <a:solidFill>
                  <a:srgbClr val="00B050"/>
                </a:solidFill>
              </a:endParaRPr>
            </a:p>
          </p:txBody>
        </p:sp>
        <p:cxnSp>
          <p:nvCxnSpPr>
            <p:cNvPr id="7" name="直線單箭頭接點 21"/>
            <p:cNvCxnSpPr/>
            <p:nvPr/>
          </p:nvCxnSpPr>
          <p:spPr>
            <a:xfrm flipH="1" flipV="1">
              <a:off x="2490995" y="5442818"/>
              <a:ext cx="144016" cy="304527"/>
            </a:xfrm>
            <a:prstGeom prst="straightConnector1">
              <a:avLst/>
            </a:prstGeom>
            <a:ln w="508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67122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License Request</a:t>
            </a:r>
            <a:endParaRPr lang="zh-TW" altLang="en-US" dirty="0"/>
          </a:p>
        </p:txBody>
      </p:sp>
      <p:pic>
        <p:nvPicPr>
          <p:cNvPr id="1026" name="Picture 2" descr="C:\Users\kayeoc279\Documents\modelsim學生版教學\lisenc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424038"/>
            <a:ext cx="6768752" cy="4433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611560" y="1216187"/>
            <a:ext cx="8136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altLang="zh-TW" dirty="0" smtClean="0">
                <a:latin typeface="+mj-lt"/>
              </a:rPr>
              <a:t>At </a:t>
            </a:r>
            <a:r>
              <a:rPr lang="en-US" altLang="zh-TW" dirty="0">
                <a:latin typeface="+mj-lt"/>
              </a:rPr>
              <a:t>the end of the installation process, select Finish and a browser window will open with the License Request form. </a:t>
            </a:r>
            <a:r>
              <a:rPr lang="en-US" altLang="zh-TW" dirty="0" smtClean="0">
                <a:latin typeface="+mj-lt"/>
              </a:rPr>
              <a:t>Once your request has been received the </a:t>
            </a:r>
            <a:r>
              <a:rPr lang="en-US" altLang="zh-TW" dirty="0" err="1" smtClean="0">
                <a:latin typeface="+mj-lt"/>
              </a:rPr>
              <a:t>ModelSim</a:t>
            </a:r>
            <a:r>
              <a:rPr lang="en-US" altLang="zh-TW" dirty="0" smtClean="0">
                <a:latin typeface="+mj-lt"/>
              </a:rPr>
              <a:t> PE Student Edition license file will be generated, matched to your host computer and </a:t>
            </a:r>
            <a:r>
              <a:rPr lang="en-US" altLang="zh-TW" dirty="0">
                <a:latin typeface="+mj-lt"/>
              </a:rPr>
              <a:t>will be emailed to you along with license installation instructions</a:t>
            </a:r>
            <a:r>
              <a:rPr lang="en-US" altLang="zh-TW" dirty="0" smtClean="0">
                <a:latin typeface="+mj-lt"/>
              </a:rPr>
              <a:t>.</a:t>
            </a:r>
            <a:endParaRPr lang="zh-TW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72980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Final installation instruction</a:t>
            </a:r>
            <a:endParaRPr lang="zh-TW" alt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67" r="17188"/>
          <a:stretch/>
        </p:blipFill>
        <p:spPr bwMode="auto">
          <a:xfrm>
            <a:off x="611560" y="1340768"/>
            <a:ext cx="7496932" cy="1972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611560" y="3573016"/>
            <a:ext cx="792088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1</a:t>
            </a:r>
            <a:r>
              <a:rPr lang="en-US" altLang="zh-TW" dirty="0"/>
              <a:t>) Save the attached file with the name 'student_license.dat' to the top level</a:t>
            </a:r>
          </a:p>
          <a:p>
            <a:r>
              <a:rPr lang="en-US" altLang="zh-TW" dirty="0"/>
              <a:t>installation directory for </a:t>
            </a:r>
            <a:r>
              <a:rPr lang="en-US" altLang="zh-TW" dirty="0" err="1"/>
              <a:t>ModelSim</a:t>
            </a:r>
            <a:r>
              <a:rPr lang="en-US" altLang="zh-TW" dirty="0"/>
              <a:t> PE Student Edition (e.g., c:/modeltech_pe_edu).</a:t>
            </a:r>
          </a:p>
          <a:p>
            <a:r>
              <a:rPr lang="en-US" altLang="zh-TW" dirty="0"/>
              <a:t>This is the directory that contains that sub-directory 'win32pe_edu.'</a:t>
            </a:r>
          </a:p>
          <a:p>
            <a:endParaRPr lang="en-US" altLang="zh-TW" dirty="0"/>
          </a:p>
          <a:p>
            <a:r>
              <a:rPr lang="en-US" altLang="zh-TW" dirty="0"/>
              <a:t>2) Do not edit the file 'student_license.dat' in any way, or the license will not work.</a:t>
            </a:r>
          </a:p>
          <a:p>
            <a:endParaRPr lang="en-US" altLang="zh-TW" dirty="0"/>
          </a:p>
          <a:p>
            <a:r>
              <a:rPr lang="en-US" altLang="zh-TW" dirty="0"/>
              <a:t>3) You should now be able to run </a:t>
            </a:r>
            <a:r>
              <a:rPr lang="en-US" altLang="zh-TW" dirty="0" err="1"/>
              <a:t>ModelSim</a:t>
            </a:r>
            <a:r>
              <a:rPr lang="en-US" altLang="zh-TW" dirty="0"/>
              <a:t> PE Student Edition.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22639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b="1" dirty="0" smtClean="0"/>
              <a:t>How to use </a:t>
            </a:r>
            <a:r>
              <a:rPr lang="en-US" altLang="zh-TW" b="1" dirty="0" err="1" smtClean="0"/>
              <a:t>modelsim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4260105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altLang="zh-TW" b="1" dirty="0" smtClean="0"/>
              <a:t>New a project</a:t>
            </a:r>
            <a:endParaRPr lang="zh-TW" altLang="en-US" b="1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3" y="1052736"/>
            <a:ext cx="8951433" cy="5698658"/>
          </a:xfrm>
          <a:prstGeom prst="rect">
            <a:avLst/>
          </a:prstGeom>
        </p:spPr>
      </p:pic>
      <p:sp>
        <p:nvSpPr>
          <p:cNvPr id="5" name="橢圓 4"/>
          <p:cNvSpPr/>
          <p:nvPr/>
        </p:nvSpPr>
        <p:spPr>
          <a:xfrm>
            <a:off x="0" y="1172460"/>
            <a:ext cx="1547664" cy="5283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1259632" y="1560089"/>
            <a:ext cx="1265580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3256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altLang="zh-TW" b="1" dirty="0"/>
              <a:t>New a project</a:t>
            </a:r>
            <a:endParaRPr lang="zh-TW" altLang="en-US" b="1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027933"/>
            <a:ext cx="8604448" cy="5830067"/>
          </a:xfrm>
          <a:prstGeom prst="rect">
            <a:avLst/>
          </a:prstGeom>
        </p:spPr>
      </p:pic>
      <p:cxnSp>
        <p:nvCxnSpPr>
          <p:cNvPr id="8" name="直線單箭頭接點 7"/>
          <p:cNvCxnSpPr/>
          <p:nvPr/>
        </p:nvCxnSpPr>
        <p:spPr>
          <a:xfrm flipH="1">
            <a:off x="5364088" y="4018231"/>
            <a:ext cx="504056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5891316" y="3833565"/>
            <a:ext cx="1431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Project name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 flipH="1">
            <a:off x="5616116" y="4437112"/>
            <a:ext cx="504056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6124537" y="4252446"/>
            <a:ext cx="613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path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4860032" y="5445224"/>
            <a:ext cx="360040" cy="28803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2095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1870" y="188640"/>
            <a:ext cx="8229600" cy="756767"/>
          </a:xfrm>
        </p:spPr>
        <p:txBody>
          <a:bodyPr>
            <a:normAutofit fontScale="90000"/>
          </a:bodyPr>
          <a:lstStyle/>
          <a:p>
            <a:r>
              <a:rPr lang="en-US" altLang="zh-TW" b="1" dirty="0" smtClean="0"/>
              <a:t>Add Files</a:t>
            </a:r>
            <a:endParaRPr lang="zh-TW" altLang="en-US" b="1" dirty="0"/>
          </a:p>
        </p:txBody>
      </p:sp>
      <p:grpSp>
        <p:nvGrpSpPr>
          <p:cNvPr id="3" name="群組 2"/>
          <p:cNvGrpSpPr/>
          <p:nvPr/>
        </p:nvGrpSpPr>
        <p:grpSpPr>
          <a:xfrm>
            <a:off x="188852" y="908720"/>
            <a:ext cx="9044390" cy="5946497"/>
            <a:chOff x="188852" y="908720"/>
            <a:chExt cx="9044390" cy="5946497"/>
          </a:xfrm>
        </p:grpSpPr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852" y="908720"/>
              <a:ext cx="8775636" cy="5946497"/>
            </a:xfrm>
            <a:prstGeom prst="rect">
              <a:avLst/>
            </a:prstGeom>
          </p:spPr>
        </p:pic>
        <p:sp>
          <p:nvSpPr>
            <p:cNvPr id="5" name="橢圓 4"/>
            <p:cNvSpPr/>
            <p:nvPr/>
          </p:nvSpPr>
          <p:spPr>
            <a:xfrm>
              <a:off x="6516216" y="2708920"/>
              <a:ext cx="720080" cy="50405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7180051" y="3140968"/>
              <a:ext cx="20531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600" b="1" dirty="0" smtClean="0">
                  <a:solidFill>
                    <a:srgbClr val="FF0000"/>
                  </a:solidFill>
                </a:rPr>
                <a:t>1.Add .v file you write</a:t>
              </a:r>
              <a:endParaRPr lang="zh-TW" altLang="en-US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7" name="橢圓 6"/>
            <p:cNvSpPr/>
            <p:nvPr/>
          </p:nvSpPr>
          <p:spPr>
            <a:xfrm>
              <a:off x="1403648" y="3068960"/>
              <a:ext cx="1224136" cy="212423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1231966" y="2899683"/>
              <a:ext cx="34336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600" b="1" dirty="0" smtClean="0">
                  <a:solidFill>
                    <a:srgbClr val="FF0000"/>
                  </a:solidFill>
                </a:rPr>
                <a:t>2.</a:t>
              </a:r>
              <a:endParaRPr lang="zh-TW" altLang="en-US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10" name="橢圓 9"/>
            <p:cNvSpPr/>
            <p:nvPr/>
          </p:nvSpPr>
          <p:spPr>
            <a:xfrm>
              <a:off x="7524328" y="5499671"/>
              <a:ext cx="626950" cy="43886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7180964" y="5616056"/>
              <a:ext cx="34336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600" b="1" dirty="0" smtClean="0">
                  <a:solidFill>
                    <a:srgbClr val="FF0000"/>
                  </a:solidFill>
                </a:rPr>
                <a:t>3.</a:t>
              </a:r>
              <a:endParaRPr lang="zh-TW" altLang="en-US" sz="16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7356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altLang="zh-TW" b="1" dirty="0" smtClean="0"/>
              <a:t>Compile</a:t>
            </a:r>
            <a:endParaRPr lang="zh-TW" altLang="en-US" b="1" dirty="0"/>
          </a:p>
        </p:txBody>
      </p:sp>
      <p:grpSp>
        <p:nvGrpSpPr>
          <p:cNvPr id="25" name="群組 24"/>
          <p:cNvGrpSpPr/>
          <p:nvPr/>
        </p:nvGrpSpPr>
        <p:grpSpPr>
          <a:xfrm>
            <a:off x="143508" y="597406"/>
            <a:ext cx="8855968" cy="6130921"/>
            <a:chOff x="143508" y="597406"/>
            <a:chExt cx="8855968" cy="6130921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508" y="908720"/>
              <a:ext cx="8855968" cy="5819607"/>
            </a:xfrm>
            <a:prstGeom prst="rect">
              <a:avLst/>
            </a:prstGeom>
          </p:spPr>
        </p:pic>
        <p:sp>
          <p:nvSpPr>
            <p:cNvPr id="6" name="橢圓 5"/>
            <p:cNvSpPr/>
            <p:nvPr/>
          </p:nvSpPr>
          <p:spPr>
            <a:xfrm>
              <a:off x="1115616" y="3356992"/>
              <a:ext cx="432048" cy="208823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文字方塊 6"/>
            <p:cNvSpPr txBox="1"/>
            <p:nvPr/>
          </p:nvSpPr>
          <p:spPr>
            <a:xfrm>
              <a:off x="4355976" y="4216442"/>
              <a:ext cx="277832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solidFill>
                    <a:srgbClr val="FF0000"/>
                  </a:solidFill>
                </a:rPr>
                <a:t>4.</a:t>
              </a:r>
              <a:r>
                <a:rPr lang="zh-TW" altLang="en-US" b="1" dirty="0" smtClean="0">
                  <a:solidFill>
                    <a:srgbClr val="FF0000"/>
                  </a:solidFill>
                </a:rPr>
                <a:t>未編譯過的檔案會呈現</a:t>
              </a:r>
              <a:r>
                <a:rPr lang="en-US" altLang="zh-TW" b="1" dirty="0" smtClean="0">
                  <a:solidFill>
                    <a:srgbClr val="FF0000"/>
                  </a:solidFill>
                </a:rPr>
                <a:t>?</a:t>
              </a:r>
            </a:p>
            <a:p>
              <a:r>
                <a:rPr lang="zh-TW" altLang="en-US" b="1" dirty="0" smtClean="0">
                  <a:solidFill>
                    <a:srgbClr val="FF0000"/>
                  </a:solidFill>
                </a:rPr>
                <a:t>若有語法錯誤會顯示</a:t>
              </a:r>
              <a:r>
                <a:rPr lang="en-US" altLang="zh-TW" b="1" dirty="0" smtClean="0">
                  <a:solidFill>
                    <a:srgbClr val="FF0000"/>
                  </a:solidFill>
                </a:rPr>
                <a:t>X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9" name="直線單箭頭接點 8"/>
            <p:cNvCxnSpPr/>
            <p:nvPr/>
          </p:nvCxnSpPr>
          <p:spPr>
            <a:xfrm flipH="1" flipV="1">
              <a:off x="1619672" y="4005064"/>
              <a:ext cx="2736304" cy="39604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橢圓 9"/>
            <p:cNvSpPr/>
            <p:nvPr/>
          </p:nvSpPr>
          <p:spPr>
            <a:xfrm>
              <a:off x="935596" y="1772816"/>
              <a:ext cx="1224136" cy="36004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919938" y="1052736"/>
              <a:ext cx="648072" cy="28803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" name="文字方塊 2"/>
            <p:cNvSpPr txBox="1"/>
            <p:nvPr/>
          </p:nvSpPr>
          <p:spPr>
            <a:xfrm>
              <a:off x="1691680" y="1493179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rgbClr val="FF0000"/>
                  </a:solidFill>
                </a:rPr>
                <a:t>3</a:t>
              </a:r>
              <a:r>
                <a:rPr lang="en-US" altLang="zh-TW" b="1" dirty="0" smtClean="0">
                  <a:solidFill>
                    <a:srgbClr val="FF0000"/>
                  </a:solidFill>
                </a:rPr>
                <a:t>.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892496" y="597406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rgbClr val="FF0000"/>
                  </a:solidFill>
                </a:rPr>
                <a:t>2</a:t>
              </a:r>
              <a:r>
                <a:rPr lang="en-US" altLang="zh-TW" b="1" dirty="0" smtClean="0">
                  <a:solidFill>
                    <a:srgbClr val="FF0000"/>
                  </a:solidFill>
                </a:rPr>
                <a:t>.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17" name="直線單箭頭接點 16"/>
            <p:cNvCxnSpPr/>
            <p:nvPr/>
          </p:nvCxnSpPr>
          <p:spPr>
            <a:xfrm flipH="1">
              <a:off x="5292080" y="5595839"/>
              <a:ext cx="1512168" cy="78548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字方塊 17"/>
            <p:cNvSpPr txBox="1"/>
            <p:nvPr/>
          </p:nvSpPr>
          <p:spPr>
            <a:xfrm>
              <a:off x="5521697" y="5226507"/>
              <a:ext cx="31325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rgbClr val="FF0000"/>
                  </a:solidFill>
                </a:rPr>
                <a:t>5</a:t>
              </a:r>
              <a:r>
                <a:rPr lang="en-US" altLang="zh-TW" b="1" dirty="0" smtClean="0">
                  <a:solidFill>
                    <a:srgbClr val="FF0000"/>
                  </a:solidFill>
                </a:rPr>
                <a:t>.</a:t>
              </a:r>
              <a:r>
                <a:rPr lang="zh-TW" altLang="en-US" b="1" dirty="0" smtClean="0">
                  <a:solidFill>
                    <a:srgbClr val="FF0000"/>
                  </a:solidFill>
                </a:rPr>
                <a:t>會顯示哪份檔案有語法錯誤</a:t>
              </a:r>
              <a:endParaRPr lang="en-US" altLang="zh-TW" b="1" dirty="0" smtClean="0">
                <a:solidFill>
                  <a:srgbClr val="FF0000"/>
                </a:solidFill>
              </a:endParaRPr>
            </a:p>
          </p:txBody>
        </p:sp>
        <p:sp>
          <p:nvSpPr>
            <p:cNvPr id="23" name="橢圓 22"/>
            <p:cNvSpPr/>
            <p:nvPr/>
          </p:nvSpPr>
          <p:spPr>
            <a:xfrm>
              <a:off x="748157" y="5798743"/>
              <a:ext cx="648072" cy="28803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1367967" y="5807789"/>
              <a:ext cx="359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solidFill>
                    <a:srgbClr val="FF0000"/>
                  </a:solidFill>
                </a:rPr>
                <a:t>1.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2456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20080"/>
          </a:xfrm>
        </p:spPr>
        <p:txBody>
          <a:bodyPr>
            <a:normAutofit fontScale="90000"/>
          </a:bodyPr>
          <a:lstStyle/>
          <a:p>
            <a:r>
              <a:rPr lang="en-US" altLang="zh-TW" b="1" dirty="0" smtClean="0"/>
              <a:t>Simulate</a:t>
            </a:r>
            <a:endParaRPr lang="zh-TW" altLang="en-US" b="1" dirty="0"/>
          </a:p>
        </p:txBody>
      </p:sp>
      <p:grpSp>
        <p:nvGrpSpPr>
          <p:cNvPr id="22" name="群組 21"/>
          <p:cNvGrpSpPr/>
          <p:nvPr/>
        </p:nvGrpSpPr>
        <p:grpSpPr>
          <a:xfrm>
            <a:off x="0" y="836712"/>
            <a:ext cx="9144000" cy="6021288"/>
            <a:chOff x="0" y="836712"/>
            <a:chExt cx="9144000" cy="6021288"/>
          </a:xfrm>
        </p:grpSpPr>
        <p:pic>
          <p:nvPicPr>
            <p:cNvPr id="3" name="圖片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36712"/>
              <a:ext cx="9144000" cy="6021288"/>
            </a:xfrm>
            <a:prstGeom prst="rect">
              <a:avLst/>
            </a:prstGeom>
          </p:spPr>
        </p:pic>
        <p:sp>
          <p:nvSpPr>
            <p:cNvPr id="5" name="橢圓 4"/>
            <p:cNvSpPr/>
            <p:nvPr/>
          </p:nvSpPr>
          <p:spPr>
            <a:xfrm>
              <a:off x="14258" y="5013176"/>
              <a:ext cx="755576" cy="36004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684214" y="4787860"/>
              <a:ext cx="359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solidFill>
                    <a:srgbClr val="FF0000"/>
                  </a:solidFill>
                </a:rPr>
                <a:t>1.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7" name="橢圓 6"/>
            <p:cNvSpPr/>
            <p:nvPr/>
          </p:nvSpPr>
          <p:spPr>
            <a:xfrm>
              <a:off x="288032" y="3829593"/>
              <a:ext cx="755576" cy="25677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0" name="直線單箭頭接點 9"/>
            <p:cNvCxnSpPr/>
            <p:nvPr/>
          </p:nvCxnSpPr>
          <p:spPr>
            <a:xfrm flipH="1">
              <a:off x="1048642" y="3429000"/>
              <a:ext cx="2515246" cy="47269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3569701" y="3244334"/>
              <a:ext cx="41731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solidFill>
                    <a:srgbClr val="FF0000"/>
                  </a:solidFill>
                </a:rPr>
                <a:t>2.</a:t>
              </a:r>
              <a:r>
                <a:rPr lang="zh-TW" altLang="en-US" b="1" dirty="0" smtClean="0">
                  <a:solidFill>
                    <a:srgbClr val="FF0000"/>
                  </a:solidFill>
                </a:rPr>
                <a:t>在</a:t>
              </a:r>
              <a:r>
                <a:rPr lang="en-US" altLang="zh-TW" b="1" dirty="0" err="1" smtClean="0">
                  <a:solidFill>
                    <a:srgbClr val="FF0000"/>
                  </a:solidFill>
                </a:rPr>
                <a:t>testbench</a:t>
              </a:r>
              <a:r>
                <a:rPr lang="zh-TW" altLang="en-US" b="1" dirty="0" smtClean="0">
                  <a:solidFill>
                    <a:srgbClr val="FF0000"/>
                  </a:solidFill>
                </a:rPr>
                <a:t>上按滑鼠右鍵選</a:t>
              </a:r>
              <a:r>
                <a:rPr lang="en-US" altLang="zh-TW" b="1" dirty="0" smtClean="0">
                  <a:solidFill>
                    <a:srgbClr val="FF0000"/>
                  </a:solidFill>
                </a:rPr>
                <a:t>“simulate”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3" name="橢圓 12"/>
            <p:cNvSpPr/>
            <p:nvPr/>
          </p:nvSpPr>
          <p:spPr>
            <a:xfrm>
              <a:off x="1163020" y="3914251"/>
              <a:ext cx="755576" cy="25677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" name="直線單箭頭接點 13"/>
            <p:cNvCxnSpPr>
              <a:endCxn id="13" idx="6"/>
            </p:cNvCxnSpPr>
            <p:nvPr/>
          </p:nvCxnSpPr>
          <p:spPr>
            <a:xfrm flipH="1">
              <a:off x="1918596" y="3429000"/>
              <a:ext cx="1645292" cy="61363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12829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20080"/>
          </a:xfrm>
        </p:spPr>
        <p:txBody>
          <a:bodyPr>
            <a:normAutofit fontScale="90000"/>
          </a:bodyPr>
          <a:lstStyle/>
          <a:p>
            <a:r>
              <a:rPr lang="en-US" altLang="zh-TW" b="1" dirty="0" smtClean="0"/>
              <a:t>Simulate – Run all</a:t>
            </a:r>
            <a:endParaRPr lang="zh-TW" altLang="en-US" b="1" dirty="0"/>
          </a:p>
        </p:txBody>
      </p:sp>
      <p:grpSp>
        <p:nvGrpSpPr>
          <p:cNvPr id="5" name="群組 4"/>
          <p:cNvGrpSpPr/>
          <p:nvPr/>
        </p:nvGrpSpPr>
        <p:grpSpPr>
          <a:xfrm>
            <a:off x="1187624" y="1707000"/>
            <a:ext cx="6048672" cy="5034367"/>
            <a:chOff x="2267744" y="836712"/>
            <a:chExt cx="4800163" cy="5877272"/>
          </a:xfrm>
        </p:grpSpPr>
        <p:pic>
          <p:nvPicPr>
            <p:cNvPr id="3" name="圖片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7744" y="836712"/>
              <a:ext cx="4800163" cy="5877272"/>
            </a:xfrm>
            <a:prstGeom prst="rect">
              <a:avLst/>
            </a:prstGeom>
          </p:spPr>
        </p:pic>
        <p:sp>
          <p:nvSpPr>
            <p:cNvPr id="30" name="橢圓 29"/>
            <p:cNvSpPr/>
            <p:nvPr/>
          </p:nvSpPr>
          <p:spPr>
            <a:xfrm>
              <a:off x="4587209" y="1592796"/>
              <a:ext cx="796098" cy="32403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5254796" y="1768170"/>
              <a:ext cx="458997" cy="4664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rgbClr val="FF0000"/>
                  </a:solidFill>
                </a:rPr>
                <a:t>2</a:t>
              </a:r>
              <a:r>
                <a:rPr lang="en-US" altLang="zh-TW" b="1" dirty="0" smtClean="0">
                  <a:solidFill>
                    <a:srgbClr val="FF0000"/>
                  </a:solidFill>
                </a:rPr>
                <a:t>.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6" name="文字方塊 5"/>
          <p:cNvSpPr txBox="1"/>
          <p:nvPr/>
        </p:nvSpPr>
        <p:spPr>
          <a:xfrm>
            <a:off x="649527" y="966409"/>
            <a:ext cx="7269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b="1" dirty="0" smtClean="0">
                <a:solidFill>
                  <a:srgbClr val="FF0000"/>
                </a:solidFill>
              </a:rPr>
              <a:t>將所有</a:t>
            </a:r>
            <a:r>
              <a:rPr lang="en-US" altLang="zh-TW" b="1" dirty="0" smtClean="0">
                <a:solidFill>
                  <a:srgbClr val="FF0000"/>
                </a:solidFill>
              </a:rPr>
              <a:t>test data (*.txt)</a:t>
            </a:r>
            <a:r>
              <a:rPr lang="zh-TW" altLang="en-US" b="1" dirty="0" smtClean="0">
                <a:solidFill>
                  <a:srgbClr val="FF0000"/>
                </a:solidFill>
              </a:rPr>
              <a:t>放到和</a:t>
            </a:r>
            <a:r>
              <a:rPr lang="en-US" altLang="zh-TW" b="1" dirty="0">
                <a:solidFill>
                  <a:srgbClr val="FF0000"/>
                </a:solidFill>
              </a:rPr>
              <a:t>project</a:t>
            </a:r>
            <a:r>
              <a:rPr lang="zh-TW" altLang="en-US" b="1" dirty="0">
                <a:solidFill>
                  <a:srgbClr val="FF0000"/>
                </a:solidFill>
              </a:rPr>
              <a:t>同一層資料</a:t>
            </a:r>
            <a:r>
              <a:rPr lang="zh-TW" altLang="en-US" b="1" dirty="0" smtClean="0">
                <a:solidFill>
                  <a:srgbClr val="FF0000"/>
                </a:solidFill>
              </a:rPr>
              <a:t>夾</a:t>
            </a:r>
            <a:r>
              <a:rPr lang="en-US" altLang="zh-TW" b="1" dirty="0" smtClean="0">
                <a:solidFill>
                  <a:srgbClr val="FF0000"/>
                </a:solidFill>
              </a:rPr>
              <a:t/>
            </a:r>
            <a:br>
              <a:rPr lang="en-US" altLang="zh-TW" b="1" dirty="0" smtClean="0">
                <a:solidFill>
                  <a:srgbClr val="FF0000"/>
                </a:solidFill>
              </a:rPr>
            </a:br>
            <a:r>
              <a:rPr lang="en-US" altLang="zh-TW" b="1" dirty="0" smtClean="0">
                <a:solidFill>
                  <a:srgbClr val="FF0000"/>
                </a:solidFill>
              </a:rPr>
              <a:t>(project</a:t>
            </a:r>
            <a:r>
              <a:rPr lang="zh-TW" altLang="en-US" b="1" dirty="0" smtClean="0">
                <a:solidFill>
                  <a:srgbClr val="FF0000"/>
                </a:solidFill>
              </a:rPr>
              <a:t>預設路徑為</a:t>
            </a:r>
            <a:r>
              <a:rPr lang="en-US" altLang="zh-TW" b="1" dirty="0" smtClean="0">
                <a:solidFill>
                  <a:srgbClr val="FF0000"/>
                </a:solidFill>
              </a:rPr>
              <a:t>”C</a:t>
            </a:r>
            <a:r>
              <a:rPr lang="en-US" altLang="zh-TW" b="1" dirty="0">
                <a:solidFill>
                  <a:srgbClr val="FF0000"/>
                </a:solidFill>
              </a:rPr>
              <a:t>:\ Modeltech_pe_edu_10.4a \</a:t>
            </a:r>
            <a:r>
              <a:rPr lang="en-US" altLang="zh-TW" b="1" dirty="0" smtClean="0">
                <a:solidFill>
                  <a:srgbClr val="FF0000"/>
                </a:solidFill>
              </a:rPr>
              <a:t>examples”)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384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20080"/>
          </a:xfrm>
        </p:spPr>
        <p:txBody>
          <a:bodyPr>
            <a:normAutofit fontScale="90000"/>
          </a:bodyPr>
          <a:lstStyle/>
          <a:p>
            <a:r>
              <a:rPr lang="en-US" altLang="zh-TW" b="1" dirty="0"/>
              <a:t>Simulate</a:t>
            </a:r>
            <a:endParaRPr lang="zh-TW" altLang="en-US" b="1" dirty="0"/>
          </a:p>
        </p:txBody>
      </p:sp>
      <p:pic>
        <p:nvPicPr>
          <p:cNvPr id="28" name="圖片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6752"/>
            <a:ext cx="9144000" cy="5400600"/>
          </a:xfrm>
          <a:prstGeom prst="rect">
            <a:avLst/>
          </a:prstGeom>
        </p:spPr>
      </p:pic>
      <p:sp>
        <p:nvSpPr>
          <p:cNvPr id="29" name="橢圓 28"/>
          <p:cNvSpPr/>
          <p:nvPr/>
        </p:nvSpPr>
        <p:spPr>
          <a:xfrm>
            <a:off x="323528" y="2780928"/>
            <a:ext cx="57606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/>
          <p:cNvSpPr/>
          <p:nvPr/>
        </p:nvSpPr>
        <p:spPr>
          <a:xfrm>
            <a:off x="1907704" y="1864996"/>
            <a:ext cx="57606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1" name="直線單箭頭接點 30"/>
          <p:cNvCxnSpPr>
            <a:endCxn id="30" idx="6"/>
          </p:cNvCxnSpPr>
          <p:nvPr/>
        </p:nvCxnSpPr>
        <p:spPr>
          <a:xfrm flipH="1" flipV="1">
            <a:off x="2483768" y="2009012"/>
            <a:ext cx="216024" cy="136815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>
            <a:endCxn id="29" idx="6"/>
          </p:cNvCxnSpPr>
          <p:nvPr/>
        </p:nvCxnSpPr>
        <p:spPr>
          <a:xfrm flipH="1" flipV="1">
            <a:off x="899592" y="2924944"/>
            <a:ext cx="1800200" cy="45222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1907704" y="3377164"/>
            <a:ext cx="20313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FF0000"/>
                </a:solidFill>
              </a:rPr>
              <a:t>2.</a:t>
            </a:r>
            <a:r>
              <a:rPr lang="zh-TW" altLang="en-US" b="1" dirty="0" smtClean="0">
                <a:solidFill>
                  <a:srgbClr val="FF0000"/>
                </a:solidFill>
              </a:rPr>
              <a:t>可選擇特定</a:t>
            </a:r>
            <a:endParaRPr lang="en-US" altLang="zh-TW" b="1" dirty="0" smtClean="0">
              <a:solidFill>
                <a:srgbClr val="FF0000"/>
              </a:solidFill>
            </a:endParaRPr>
          </a:p>
          <a:p>
            <a:r>
              <a:rPr lang="en-US" altLang="zh-TW" b="1" dirty="0" smtClean="0">
                <a:solidFill>
                  <a:srgbClr val="FF0000"/>
                </a:solidFill>
              </a:rPr>
              <a:t>module</a:t>
            </a:r>
            <a:r>
              <a:rPr lang="zh-TW" altLang="en-US" b="1" dirty="0" smtClean="0">
                <a:solidFill>
                  <a:srgbClr val="FF0000"/>
                </a:solidFill>
              </a:rPr>
              <a:t> 的特定</a:t>
            </a:r>
            <a:endParaRPr lang="en-US" altLang="zh-TW" b="1" dirty="0" smtClean="0">
              <a:solidFill>
                <a:srgbClr val="FF0000"/>
              </a:solidFill>
            </a:endParaRPr>
          </a:p>
          <a:p>
            <a:r>
              <a:rPr lang="zh-TW" altLang="en-US" b="1" dirty="0" smtClean="0">
                <a:solidFill>
                  <a:srgbClr val="FF0000"/>
                </a:solidFill>
              </a:rPr>
              <a:t>一條線觀察其波型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827584" y="6237312"/>
            <a:ext cx="504056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/>
          <p:cNvSpPr txBox="1"/>
          <p:nvPr/>
        </p:nvSpPr>
        <p:spPr>
          <a:xfrm>
            <a:off x="1332286" y="6156012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FF0000"/>
                </a:solidFill>
              </a:rPr>
              <a:t>1.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38" name="橢圓 37"/>
          <p:cNvSpPr/>
          <p:nvPr/>
        </p:nvSpPr>
        <p:spPr>
          <a:xfrm>
            <a:off x="3563888" y="5517232"/>
            <a:ext cx="5256584" cy="7200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/>
          <p:cNvSpPr txBox="1"/>
          <p:nvPr/>
        </p:nvSpPr>
        <p:spPr>
          <a:xfrm>
            <a:off x="1910919" y="5186451"/>
            <a:ext cx="18015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FF0000"/>
                </a:solidFill>
              </a:rPr>
              <a:t>3.</a:t>
            </a:r>
            <a:r>
              <a:rPr lang="zh-TW" altLang="en-US" b="1" dirty="0" smtClean="0">
                <a:solidFill>
                  <a:srgbClr val="FF0000"/>
                </a:solidFill>
              </a:rPr>
              <a:t>可由</a:t>
            </a:r>
            <a:r>
              <a:rPr lang="en-US" altLang="zh-TW" b="1" dirty="0" err="1" smtClean="0">
                <a:solidFill>
                  <a:srgbClr val="FF0000"/>
                </a:solidFill>
              </a:rPr>
              <a:t>testbench</a:t>
            </a:r>
            <a:endParaRPr lang="en-US" altLang="zh-TW" b="1" dirty="0" smtClean="0">
              <a:solidFill>
                <a:srgbClr val="FF0000"/>
              </a:solidFill>
            </a:endParaRPr>
          </a:p>
          <a:p>
            <a:r>
              <a:rPr lang="zh-TW" altLang="en-US" b="1" dirty="0" smtClean="0">
                <a:solidFill>
                  <a:srgbClr val="FF0000"/>
                </a:solidFill>
              </a:rPr>
              <a:t>中</a:t>
            </a:r>
            <a:r>
              <a:rPr lang="en-US" altLang="zh-TW" b="1" dirty="0" smtClean="0">
                <a:solidFill>
                  <a:srgbClr val="FF0000"/>
                </a:solidFill>
              </a:rPr>
              <a:t>print</a:t>
            </a:r>
            <a:r>
              <a:rPr lang="zh-TW" altLang="en-US" b="1" dirty="0" smtClean="0">
                <a:solidFill>
                  <a:srgbClr val="FF0000"/>
                </a:solidFill>
              </a:rPr>
              <a:t>一些訊</a:t>
            </a:r>
            <a:r>
              <a:rPr lang="zh-TW" altLang="en-US" b="1" dirty="0">
                <a:solidFill>
                  <a:srgbClr val="FF0000"/>
                </a:solidFill>
              </a:rPr>
              <a:t>息</a:t>
            </a:r>
          </a:p>
        </p:txBody>
      </p:sp>
      <p:sp>
        <p:nvSpPr>
          <p:cNvPr id="40" name="橢圓 39"/>
          <p:cNvSpPr/>
          <p:nvPr/>
        </p:nvSpPr>
        <p:spPr>
          <a:xfrm>
            <a:off x="3674199" y="2323346"/>
            <a:ext cx="1795602" cy="33572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5469801" y="2351681"/>
            <a:ext cx="28985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FF0000"/>
                </a:solidFill>
              </a:rPr>
              <a:t>4.</a:t>
            </a:r>
            <a:r>
              <a:rPr lang="zh-TW" altLang="en-US" b="1" dirty="0" smtClean="0">
                <a:solidFill>
                  <a:srgbClr val="FF0000"/>
                </a:solidFill>
              </a:rPr>
              <a:t>在波型圖上點右鍵可選擇</a:t>
            </a:r>
            <a:endParaRPr lang="en-US" altLang="zh-TW" b="1" dirty="0" smtClean="0">
              <a:solidFill>
                <a:srgbClr val="FF0000"/>
              </a:solidFill>
            </a:endParaRPr>
          </a:p>
          <a:p>
            <a:r>
              <a:rPr lang="en-US" altLang="zh-TW" b="1" dirty="0" smtClean="0">
                <a:solidFill>
                  <a:srgbClr val="FF0000"/>
                </a:solidFill>
              </a:rPr>
              <a:t>output</a:t>
            </a:r>
            <a:r>
              <a:rPr lang="zh-TW" altLang="en-US" b="1" dirty="0" smtClean="0">
                <a:solidFill>
                  <a:srgbClr val="FF0000"/>
                </a:solidFill>
              </a:rPr>
              <a:t>格式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4404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306</Words>
  <Application>Microsoft Macintosh PowerPoint</Application>
  <PresentationFormat>如螢幕大小 (4:3)</PresentationFormat>
  <Paragraphs>55</Paragraphs>
  <Slides>15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Calibri</vt:lpstr>
      <vt:lpstr>新細明體</vt:lpstr>
      <vt:lpstr>Arial</vt:lpstr>
      <vt:lpstr>Office 佈景主題</vt:lpstr>
      <vt:lpstr> ModelSim Installation and Licensing Guide</vt:lpstr>
      <vt:lpstr>Go to ModelSim</vt:lpstr>
      <vt:lpstr>Download &amp; Setup </vt:lpstr>
      <vt:lpstr>Registration</vt:lpstr>
      <vt:lpstr>Download</vt:lpstr>
      <vt:lpstr>License Request</vt:lpstr>
      <vt:lpstr>Final installation instruction</vt:lpstr>
      <vt:lpstr>How to use modelsim</vt:lpstr>
      <vt:lpstr>New a project</vt:lpstr>
      <vt:lpstr>New a project</vt:lpstr>
      <vt:lpstr>Add Files</vt:lpstr>
      <vt:lpstr>Compile</vt:lpstr>
      <vt:lpstr>Simulate</vt:lpstr>
      <vt:lpstr>Simulate – Run all</vt:lpstr>
      <vt:lpstr>Simulate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kayeoc279</dc:creator>
  <cp:lastModifiedBy>Microsoft Office 使用者</cp:lastModifiedBy>
  <cp:revision>39</cp:revision>
  <dcterms:created xsi:type="dcterms:W3CDTF">2013-09-17T07:24:00Z</dcterms:created>
  <dcterms:modified xsi:type="dcterms:W3CDTF">2019-04-10T08:17:43Z</dcterms:modified>
</cp:coreProperties>
</file>